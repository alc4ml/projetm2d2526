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E5F60FC-B4D7-4067-82C6-94315F13D76C}">
  <a:tblStyle styleId="{AE5F60FC-B4D7-4067-82C6-94315F13D76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d9ae61929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cd9ae61929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d9ae61929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d9ae61929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d9ae61929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d9ae61929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d9ae61929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d9ae61929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d9ae61929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d9ae61929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d9ae61929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cd9ae61929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d9ae61929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cd9ae61929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d9ae61929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d9ae61929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d9ae61929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cd9ae61929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d9ae61929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cd9ae61929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dc8c5d8bb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cdc8c5d8bb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dc8c5d8b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cdc8c5d8b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dc8c5d8bb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cdc8c5d8bb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dc8c5d8bb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cdc8c5d8bb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dc8c5d8bb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cdc8c5d8bb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cdc8c5d8bb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cdc8c5d8bb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dc8c5d8bb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cdc8c5d8bb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dc8c5d8bb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cdc8c5d8bb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ce07863a5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ce07863a5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ce07863a5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ce07863a5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ce07863a5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ce07863a5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cdc8c5d8bb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cdc8c5d8bb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95e161b3a5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95e161b3a5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cdc8c5d8bb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cdc8c5d8bb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95e161b3a5_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95e161b3a5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95e161b3a5_9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95e161b3a5_9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95e161b3a5_9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95e161b3a5_9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95e161b3a5_9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95e161b3a5_9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95e161b3a5_9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95e161b3a5_9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95e161b3a5_9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95e161b3a5_9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95e161b3a5_9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95e161b3a5_9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cdc8c5d8bb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cdc8c5d8bb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ce07863a5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ce07863a5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ce1bdc0f2f_3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ce1bdc0f2f_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ce07863a5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ce07863a5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ce1bdc0f2f_3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ce1bdc0f2f_3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ce1bdc0f2f_3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ce1bdc0f2f_3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ce07863a5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ce07863a5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cdc8c5d8bb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cdc8c5d8bb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cdc8c5d8bb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cdc8c5d8bb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cdc8c5d8bb_2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cdc8c5d8bb_2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cdc8c5d8bb_2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cdc8c5d8bb_2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cdc8c5d8bb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cdc8c5d8bb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cdc8c5d8bb_2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cdc8c5d8bb_2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95e161b3a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95e161b3a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95e161b3a5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95e161b3a5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95e0f221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95e0f221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95e0f221d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95e0f221d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ce1bdc0f2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ce1bdc0f2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95e0f221d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95e0f221d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95e0f221d4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95e0f221d4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95e0f221d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95e0f221d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95e0f221d4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95e0f221d4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3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.png"/><Relationship Id="rId6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Relationship Id="rId5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Relationship Id="rId4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Relationship Id="rId4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8.png"/><Relationship Id="rId4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7.png"/><Relationship Id="rId4" Type="http://schemas.openxmlformats.org/officeDocument/2006/relationships/image" Target="../media/image34.png"/><Relationship Id="rId5" Type="http://schemas.openxmlformats.org/officeDocument/2006/relationships/image" Target="../media/image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9.png"/><Relationship Id="rId4" Type="http://schemas.openxmlformats.org/officeDocument/2006/relationships/image" Target="../media/image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1.png"/><Relationship Id="rId4" Type="http://schemas.openxmlformats.org/officeDocument/2006/relationships/image" Target="../media/image3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5.png"/><Relationship Id="rId4" Type="http://schemas.openxmlformats.org/officeDocument/2006/relationships/image" Target="../media/image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9.png"/><Relationship Id="rId4" Type="http://schemas.openxmlformats.org/officeDocument/2006/relationships/image" Target="../media/image47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9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38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9.png"/><Relationship Id="rId4" Type="http://schemas.openxmlformats.org/officeDocument/2006/relationships/hyperlink" Target="https://projetm2d2526-m2d.streamlit.app/" TargetMode="External"/><Relationship Id="rId5" Type="http://schemas.openxmlformats.org/officeDocument/2006/relationships/image" Target="../media/image6.png"/><Relationship Id="rId6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pt-BR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modèle simple de maintenance</a:t>
            </a:r>
            <a:endParaRPr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pt-BR" sz="228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pt-BR" sz="2280">
                <a:latin typeface="Times New Roman"/>
                <a:ea typeface="Times New Roman"/>
                <a:cs typeface="Times New Roman"/>
                <a:sym typeface="Times New Roman"/>
              </a:rPr>
              <a:t>imulateur d’endommagement d’une flotte de composants.</a:t>
            </a:r>
            <a:endParaRPr sz="228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pt-BR" sz="2280">
                <a:latin typeface="Times New Roman"/>
                <a:ea typeface="Times New Roman"/>
                <a:cs typeface="Times New Roman"/>
                <a:sym typeface="Times New Roman"/>
              </a:rPr>
              <a:t>Évaluation des politiques de maintenance.</a:t>
            </a:r>
            <a:endParaRPr sz="228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 amt="20000"/>
          </a:blip>
          <a:srcRect b="0" l="17153" r="15420" t="7304"/>
          <a:stretch/>
        </p:blipFill>
        <p:spPr>
          <a:xfrm>
            <a:off x="4032975" y="12300"/>
            <a:ext cx="51110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2686925" y="4017500"/>
            <a:ext cx="4305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pt-BR" sz="228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Équipe M2D</a:t>
            </a:r>
            <a:endParaRPr b="1" sz="228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</a:rPr>
              <a:t>I . The Simulator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pt-BR" sz="1600">
                <a:solidFill>
                  <a:schemeClr val="dk1"/>
                </a:solidFill>
              </a:rPr>
              <a:t>Cases/Dataset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pt-BR" sz="1600">
                <a:solidFill>
                  <a:schemeClr val="dk1"/>
                </a:solidFill>
              </a:rPr>
              <a:t>KPIs &amp; Cost Function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pt-BR" sz="1600">
                <a:solidFill>
                  <a:schemeClr val="dk1"/>
                </a:solidFill>
              </a:rPr>
              <a:t>Mathematical Description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</a:rPr>
              <a:t>II. Experiments</a:t>
            </a:r>
            <a:r>
              <a:rPr lang="pt-BR" sz="1600">
                <a:solidFill>
                  <a:schemeClr val="dk1"/>
                </a:solidFill>
              </a:rPr>
              <a:t> / </a:t>
            </a:r>
            <a:r>
              <a:rPr lang="pt-BR" sz="1600">
                <a:solidFill>
                  <a:schemeClr val="dk1"/>
                </a:solidFill>
              </a:rPr>
              <a:t>Analysis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pt-BR" sz="1600">
                <a:solidFill>
                  <a:schemeClr val="dk1"/>
                </a:solidFill>
              </a:rPr>
              <a:t>Exploratory </a:t>
            </a:r>
            <a:r>
              <a:rPr lang="pt-BR" sz="1600">
                <a:solidFill>
                  <a:schemeClr val="dk1"/>
                </a:solidFill>
              </a:rPr>
              <a:t>Analysis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pt-BR" sz="1600">
                <a:solidFill>
                  <a:schemeClr val="dk1"/>
                </a:solidFill>
              </a:rPr>
              <a:t>Parameter Impacts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pt-BR" sz="1600">
                <a:solidFill>
                  <a:schemeClr val="dk1"/>
                </a:solidFill>
              </a:rPr>
              <a:t>Model Inversion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pt-BR" sz="1600">
                <a:solidFill>
                  <a:schemeClr val="dk1"/>
                </a:solidFill>
              </a:rPr>
              <a:t>Policy Optimization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</a:rPr>
              <a:t>III. Maintenance Pipeline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pt-BR" sz="1600">
                <a:solidFill>
                  <a:schemeClr val="dk1"/>
                </a:solidFill>
              </a:rPr>
              <a:t>Pipeline Library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UcPeriod"/>
            </a:pPr>
            <a:r>
              <a:rPr lang="pt-BR" sz="1600">
                <a:solidFill>
                  <a:schemeClr val="dk1"/>
                </a:solidFill>
              </a:rPr>
              <a:t>User Interface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 amt="20000"/>
          </a:blip>
          <a:srcRect b="0" l="17153" r="15420" t="7304"/>
          <a:stretch/>
        </p:blipFill>
        <p:spPr>
          <a:xfrm>
            <a:off x="4032975" y="12300"/>
            <a:ext cx="51110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 amt="20000"/>
          </a:blip>
          <a:srcRect b="24975" l="17156" r="28913" t="7307"/>
          <a:stretch/>
        </p:blipFill>
        <p:spPr>
          <a:xfrm>
            <a:off x="5055825" y="1385850"/>
            <a:ext cx="4088176" cy="37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457200" lvl="0" marL="457200" rtl="0" algn="ctr">
              <a:spcBef>
                <a:spcPts val="0"/>
              </a:spcBef>
              <a:spcAft>
                <a:spcPts val="0"/>
              </a:spcAft>
              <a:buSzPts val="3600"/>
              <a:buAutoNum type="romanUcPeriod"/>
            </a:pPr>
            <a:r>
              <a:rPr lang="pt-BR"/>
              <a:t>The </a:t>
            </a:r>
            <a:r>
              <a:rPr lang="pt-BR"/>
              <a:t>Simulator (SimMCM2D)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/>
          <p:cNvPicPr preferRelativeResize="0"/>
          <p:nvPr/>
        </p:nvPicPr>
        <p:blipFill rotWithShape="1">
          <a:blip r:embed="rId3">
            <a:alphaModFix amt="20000"/>
          </a:blip>
          <a:srcRect b="24975" l="17156" r="28913" t="7307"/>
          <a:stretch/>
        </p:blipFill>
        <p:spPr>
          <a:xfrm>
            <a:off x="5055825" y="1385850"/>
            <a:ext cx="4088176" cy="37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romanUcPeriod"/>
            </a:pPr>
            <a:r>
              <a:rPr lang="pt-BR"/>
              <a:t>Simulator (SimMCM2D)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Implementation: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Python Package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PIP Installable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Functionalities: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i="1" lang="pt-BR"/>
              <a:t>sample_datasets</a:t>
            </a:r>
            <a:endParaRPr i="1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i="1" lang="pt-BR"/>
              <a:t>get_kpi</a:t>
            </a:r>
            <a:endParaRPr i="1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i="1" lang="pt-BR"/>
              <a:t>sample_to_table</a:t>
            </a:r>
            <a:endParaRPr i="1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Documentation: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README.md  - Installation/Requirements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examples/simulator_distributions.ipynb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examples/simulator_example.ipynb</a:t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64550" y="198075"/>
            <a:ext cx="1599250" cy="159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/>
          <p:cNvPicPr preferRelativeResize="0"/>
          <p:nvPr/>
        </p:nvPicPr>
        <p:blipFill rotWithShape="1">
          <a:blip r:embed="rId3">
            <a:alphaModFix amt="20000"/>
          </a:blip>
          <a:srcRect b="24975" l="17156" r="28913" t="7307"/>
          <a:stretch/>
        </p:blipFill>
        <p:spPr>
          <a:xfrm>
            <a:off x="5055825" y="1385850"/>
            <a:ext cx="4088176" cy="37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Simulator (SimMCM2D)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37863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Dataset Structure: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i="1" lang="pt-BR"/>
              <a:t>system_id </a:t>
            </a:r>
            <a:r>
              <a:rPr lang="pt-BR"/>
              <a:t>/ </a:t>
            </a:r>
            <a:r>
              <a:rPr i="1" lang="pt-BR"/>
              <a:t>component_id</a:t>
            </a:r>
            <a:endParaRPr i="1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i="1" lang="pt-BR"/>
              <a:t>event_date </a:t>
            </a:r>
            <a:r>
              <a:rPr lang="pt-BR"/>
              <a:t>/ </a:t>
            </a:r>
            <a:r>
              <a:rPr i="1" lang="pt-BR"/>
              <a:t>event_time</a:t>
            </a:r>
            <a:endParaRPr i="1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i="1" lang="pt-BR"/>
              <a:t>event_type</a:t>
            </a:r>
            <a:r>
              <a:rPr lang="pt-BR"/>
              <a:t>: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inspection, replacement, pane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i="1" lang="pt-BR"/>
              <a:t>event_report</a:t>
            </a:r>
            <a:r>
              <a:rPr lang="pt-BR"/>
              <a:t>: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inspection reports (expired or </a:t>
            </a:r>
            <a:r>
              <a:rPr lang="pt-BR"/>
              <a:t>wornout</a:t>
            </a:r>
            <a:r>
              <a:rPr lang="pt-BR"/>
              <a:t>);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replacement reports (unused or </a:t>
            </a:r>
            <a:r>
              <a:rPr lang="pt-BR"/>
              <a:t>reused</a:t>
            </a:r>
            <a:r>
              <a:rPr lang="pt-BR"/>
              <a:t>);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i="1" lang="pt-BR"/>
              <a:t>system_age </a:t>
            </a:r>
            <a:r>
              <a:rPr lang="pt-BR"/>
              <a:t>/ </a:t>
            </a:r>
            <a:r>
              <a:rPr i="1" lang="pt-BR"/>
              <a:t>component_age</a:t>
            </a:r>
            <a:endParaRPr i="1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i="1" lang="pt-BR"/>
              <a:t>usage_since_last_event_h</a:t>
            </a:r>
            <a:endParaRPr i="1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i="1" lang="pt-BR"/>
              <a:t>FF</a:t>
            </a:r>
            <a:r>
              <a:rPr lang="pt-BR"/>
              <a:t> (failure found)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cost_event / cost_cumulated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Simulator (SimMCM2D)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 rotWithShape="1">
          <a:blip r:embed="rId3">
            <a:alphaModFix amt="20000"/>
          </a:blip>
          <a:srcRect b="24975" l="17156" r="28913" t="7307"/>
          <a:stretch/>
        </p:blipFill>
        <p:spPr>
          <a:xfrm>
            <a:off x="5055825" y="1385850"/>
            <a:ext cx="4088176" cy="375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/>
          <p:cNvPicPr preferRelativeResize="0"/>
          <p:nvPr/>
        </p:nvPicPr>
        <p:blipFill rotWithShape="1">
          <a:blip r:embed="rId4">
            <a:alphaModFix/>
          </a:blip>
          <a:srcRect b="6059" l="0" r="0" t="0"/>
          <a:stretch/>
        </p:blipFill>
        <p:spPr>
          <a:xfrm>
            <a:off x="311700" y="1152475"/>
            <a:ext cx="8520600" cy="3721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/>
          <p:cNvPicPr preferRelativeResize="0"/>
          <p:nvPr/>
        </p:nvPicPr>
        <p:blipFill rotWithShape="1">
          <a:blip r:embed="rId3">
            <a:alphaModFix amt="20000"/>
          </a:blip>
          <a:srcRect b="24975" l="17156" r="28913" t="7307"/>
          <a:stretch/>
        </p:blipFill>
        <p:spPr>
          <a:xfrm>
            <a:off x="5055825" y="1385850"/>
            <a:ext cx="4088176" cy="37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Simulator (SimMCM2D)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37863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137875"/>
            <a:ext cx="8520600" cy="1924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3182951"/>
            <a:ext cx="8520602" cy="607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700" y="3910801"/>
            <a:ext cx="8520602" cy="607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0"/>
          <p:cNvPicPr preferRelativeResize="0"/>
          <p:nvPr/>
        </p:nvPicPr>
        <p:blipFill rotWithShape="1">
          <a:blip r:embed="rId3">
            <a:alphaModFix amt="20000"/>
          </a:blip>
          <a:srcRect b="24975" l="17156" r="28913" t="7307"/>
          <a:stretch/>
        </p:blipFill>
        <p:spPr>
          <a:xfrm>
            <a:off x="5055825" y="1385850"/>
            <a:ext cx="4088176" cy="37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Simulator (SimMCM2D)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37863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Simulated Cases: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Component</a:t>
            </a:r>
            <a:r>
              <a:rPr lang="pt-BR"/>
              <a:t> Failure (Pane)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Following a Weibull Distribution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Inspection Scheduling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Inspection without Replacement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Inspection Leading to Replacement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Uncertain Inspection Measurements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Replacement </a:t>
            </a:r>
            <a:r>
              <a:rPr lang="pt-BR"/>
              <a:t>Scheduling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Delay Before Replacement is Required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Component Reuse and Maintenance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Automatic Replacement at Age Limit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Fleet Evolution Over Time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Following a Birth-Death Process</a:t>
            </a:r>
            <a:endParaRPr/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5477" y="1137875"/>
            <a:ext cx="3956823" cy="84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44125" y="2158481"/>
            <a:ext cx="4088175" cy="23957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/>
          <p:cNvPicPr preferRelativeResize="0"/>
          <p:nvPr/>
        </p:nvPicPr>
        <p:blipFill rotWithShape="1">
          <a:blip r:embed="rId3">
            <a:alphaModFix amt="20000"/>
          </a:blip>
          <a:srcRect b="24975" l="17156" r="28913" t="7307"/>
          <a:stretch/>
        </p:blipFill>
        <p:spPr>
          <a:xfrm>
            <a:off x="5055825" y="1385850"/>
            <a:ext cx="4088176" cy="37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Simulator (SimMCM2D)</a:t>
            </a:r>
            <a:endParaRPr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311700" y="1137863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/>
            </a:r>
            <a:endParaRPr/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137875"/>
            <a:ext cx="4204801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35347" y="1137872"/>
            <a:ext cx="3896949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2"/>
          <p:cNvPicPr preferRelativeResize="0"/>
          <p:nvPr/>
        </p:nvPicPr>
        <p:blipFill rotWithShape="1">
          <a:blip r:embed="rId3">
            <a:alphaModFix amt="20000"/>
          </a:blip>
          <a:srcRect b="24975" l="17156" r="28913" t="7307"/>
          <a:stretch/>
        </p:blipFill>
        <p:spPr>
          <a:xfrm>
            <a:off x="5055825" y="1385850"/>
            <a:ext cx="4088176" cy="37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Simulator (SimMCM2D)</a:t>
            </a:r>
            <a:endParaRPr/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137863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/>
            </a:r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137875"/>
            <a:ext cx="4204792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79161" y="1137872"/>
            <a:ext cx="3853135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3"/>
          <p:cNvPicPr preferRelativeResize="0"/>
          <p:nvPr/>
        </p:nvPicPr>
        <p:blipFill rotWithShape="1">
          <a:blip r:embed="rId3">
            <a:alphaModFix amt="20000"/>
          </a:blip>
          <a:srcRect b="24975" l="17156" r="28913" t="7307"/>
          <a:stretch/>
        </p:blipFill>
        <p:spPr>
          <a:xfrm>
            <a:off x="5055825" y="1385850"/>
            <a:ext cx="4088176" cy="37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Simulator (SimMCM2D)</a:t>
            </a:r>
            <a:endParaRPr/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311700" y="1137863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t/>
            </a:r>
            <a:endParaRPr/>
          </a:p>
        </p:txBody>
      </p:sp>
      <p:pic>
        <p:nvPicPr>
          <p:cNvPr id="137" name="Google Shape;13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137872"/>
            <a:ext cx="4324938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44122" y="1137875"/>
            <a:ext cx="4088174" cy="3408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3"/>
          <p:cNvPicPr preferRelativeResize="0"/>
          <p:nvPr/>
        </p:nvPicPr>
        <p:blipFill rotWithShape="1">
          <a:blip r:embed="rId6">
            <a:alphaModFix/>
          </a:blip>
          <a:srcRect b="0" l="14329" r="16178" t="0"/>
          <a:stretch/>
        </p:blipFill>
        <p:spPr>
          <a:xfrm>
            <a:off x="2279525" y="2467850"/>
            <a:ext cx="1826525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I.B. KPI Key Performance Indicator</a:t>
            </a:r>
            <a:endParaRPr/>
          </a:p>
        </p:txBody>
      </p:sp>
      <p:sp>
        <p:nvSpPr>
          <p:cNvPr id="145" name="Google Shape;145;p24"/>
          <p:cNvSpPr txBox="1"/>
          <p:nvPr>
            <p:ph idx="1" type="body"/>
          </p:nvPr>
        </p:nvSpPr>
        <p:spPr>
          <a:xfrm>
            <a:off x="278100" y="894000"/>
            <a:ext cx="8587800" cy="424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Definition: </a:t>
            </a:r>
            <a:endParaRPr/>
          </a:p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</a:t>
            </a:r>
            <a:r>
              <a:rPr lang="pt-BR"/>
              <a:t>uantitative measure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Evaluate  effectiveness &amp; success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Follow reliability of the equipments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Cost optimisation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Track progress over time</a:t>
            </a:r>
            <a:endParaRPr/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=&gt; decision support</a:t>
            </a:r>
            <a:endParaRPr/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3 categories: 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number of failure &amp; replacement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Quality of the detector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Costs</a:t>
            </a:r>
            <a:endParaRPr/>
          </a:p>
        </p:txBody>
      </p:sp>
      <p:pic>
        <p:nvPicPr>
          <p:cNvPr id="146" name="Google Shape;146;p24"/>
          <p:cNvPicPr preferRelativeResize="0"/>
          <p:nvPr/>
        </p:nvPicPr>
        <p:blipFill rotWithShape="1">
          <a:blip r:embed="rId3">
            <a:alphaModFix amt="20000"/>
          </a:blip>
          <a:srcRect b="24975" l="17156" r="28913" t="7307"/>
          <a:stretch/>
        </p:blipFill>
        <p:spPr>
          <a:xfrm>
            <a:off x="5055825" y="1385850"/>
            <a:ext cx="4088176" cy="375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0" y="152025"/>
            <a:ext cx="8520600" cy="10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AutoNum type="romanUcPeriod"/>
            </a:pPr>
            <a:r>
              <a:rPr lang="pt-BR"/>
              <a:t>B. KPI: Number of failure &amp; replacement</a:t>
            </a:r>
            <a:endParaRPr/>
          </a:p>
        </p:txBody>
      </p:sp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200775" y="1003500"/>
            <a:ext cx="8943300" cy="41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/>
              <a:t>Month (m)	Quarter (t)	Year (y)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For the </a:t>
            </a:r>
            <a:r>
              <a:rPr lang="pt-BR"/>
              <a:t>Fleet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u="sng"/>
              <a:t>ex:</a:t>
            </a:r>
            <a:r>
              <a:rPr lang="pt-BR"/>
              <a:t> per month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25" title="avg_fail_m.png"/>
          <p:cNvPicPr preferRelativeResize="0"/>
          <p:nvPr/>
        </p:nvPicPr>
        <p:blipFill rotWithShape="1">
          <a:blip r:embed="rId3">
            <a:alphaModFix/>
          </a:blip>
          <a:srcRect b="6036" l="5167" r="49391" t="11387"/>
          <a:stretch/>
        </p:blipFill>
        <p:spPr>
          <a:xfrm>
            <a:off x="2557525" y="1489025"/>
            <a:ext cx="4735202" cy="345895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4" name="Google Shape;154;p25"/>
          <p:cNvPicPr preferRelativeResize="0"/>
          <p:nvPr/>
        </p:nvPicPr>
        <p:blipFill rotWithShape="1">
          <a:blip r:embed="rId4">
            <a:alphaModFix amt="20000"/>
          </a:blip>
          <a:srcRect b="24975" l="17156" r="28913" t="7307"/>
          <a:stretch/>
        </p:blipFill>
        <p:spPr>
          <a:xfrm>
            <a:off x="5055825" y="1489025"/>
            <a:ext cx="4088176" cy="375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pt-BR" sz="1800">
                <a:solidFill>
                  <a:schemeClr val="dk2"/>
                </a:solidFill>
              </a:rPr>
              <a:t>Per System Metrics (Reliability)</a:t>
            </a:r>
            <a:endParaRPr/>
          </a:p>
        </p:txBody>
      </p:sp>
      <p:sp>
        <p:nvSpPr>
          <p:cNvPr id="160" name="Google Shape;160;p26"/>
          <p:cNvSpPr txBox="1"/>
          <p:nvPr>
            <p:ph idx="1" type="body"/>
          </p:nvPr>
        </p:nvSpPr>
        <p:spPr>
          <a:xfrm>
            <a:off x="-541050" y="1017725"/>
            <a:ext cx="5016900" cy="37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SzPts val="1400"/>
              <a:buChar char="○"/>
            </a:pPr>
            <a:r>
              <a:rPr b="1" lang="pt-BR"/>
              <a:t>avg_fail_syst_total: </a:t>
            </a:r>
            <a:r>
              <a:rPr lang="pt-BR"/>
              <a:t>Avg over the total lifetime of the fleet</a:t>
            </a:r>
            <a:endParaRPr/>
          </a:p>
        </p:txBody>
      </p:sp>
      <p:pic>
        <p:nvPicPr>
          <p:cNvPr id="161" name="Google Shape;161;p26" title="avg_sys_fail_m.png"/>
          <p:cNvPicPr preferRelativeResize="0"/>
          <p:nvPr/>
        </p:nvPicPr>
        <p:blipFill rotWithShape="1">
          <a:blip r:embed="rId3">
            <a:alphaModFix/>
          </a:blip>
          <a:srcRect b="5346" l="4476" r="45509" t="11251"/>
          <a:stretch/>
        </p:blipFill>
        <p:spPr>
          <a:xfrm>
            <a:off x="4572000" y="1892075"/>
            <a:ext cx="4500423" cy="318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6"/>
          <p:cNvSpPr txBox="1"/>
          <p:nvPr/>
        </p:nvSpPr>
        <p:spPr>
          <a:xfrm>
            <a:off x="3902700" y="1476563"/>
            <a:ext cx="5241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b="1" lang="pt-BR" sz="1500">
                <a:solidFill>
                  <a:schemeClr val="dk2"/>
                </a:solidFill>
              </a:rPr>
              <a:t>avg_fail_syst_:</a:t>
            </a:r>
            <a:r>
              <a:rPr lang="pt-BR" sz="1500">
                <a:solidFill>
                  <a:schemeClr val="dk2"/>
                </a:solidFill>
              </a:rPr>
              <a:t> Avg per system and per period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63" name="Google Shape;163;p26" title="avg_sys_fail_total.png"/>
          <p:cNvPicPr preferRelativeResize="0"/>
          <p:nvPr/>
        </p:nvPicPr>
        <p:blipFill rotWithShape="1">
          <a:blip r:embed="rId4">
            <a:alphaModFix/>
          </a:blip>
          <a:srcRect b="1559" l="2671" r="54796" t="11839"/>
          <a:stretch/>
        </p:blipFill>
        <p:spPr>
          <a:xfrm>
            <a:off x="244400" y="2059525"/>
            <a:ext cx="3889301" cy="308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PER = replacement / failure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sz="1800"/>
              <a:t>&gt; 1 : over-maintenance</a:t>
            </a:r>
            <a:endParaRPr sz="1800"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pt-BR" sz="1800"/>
              <a:t>&lt; 1 : under-maintenance</a:t>
            </a:r>
            <a:endParaRPr sz="1800"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pt-BR" sz="1800"/>
              <a:t>≈ 1 :  balance between planned interventions and observed failures.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</a:endParaRPr>
          </a:p>
        </p:txBody>
      </p:sp>
      <p:pic>
        <p:nvPicPr>
          <p:cNvPr id="169" name="Google Shape;169;p27"/>
          <p:cNvPicPr preferRelativeResize="0"/>
          <p:nvPr/>
        </p:nvPicPr>
        <p:blipFill rotWithShape="1">
          <a:blip r:embed="rId3">
            <a:alphaModFix amt="20000"/>
          </a:blip>
          <a:srcRect b="24975" l="17156" r="28913" t="7307"/>
          <a:stretch/>
        </p:blipFill>
        <p:spPr>
          <a:xfrm>
            <a:off x="5055825" y="1385850"/>
            <a:ext cx="4088176" cy="375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KPI : Quality of the detector</a:t>
            </a:r>
            <a:endParaRPr/>
          </a:p>
        </p:txBody>
      </p:sp>
      <p:sp>
        <p:nvSpPr>
          <p:cNvPr id="175" name="Google Shape;17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	→ = 1 : Every intervention is useful</a:t>
            </a:r>
            <a:r>
              <a:rPr lang="pt-BR" sz="1100">
                <a:solidFill>
                  <a:schemeClr val="dk1"/>
                </a:solidFill>
              </a:rPr>
              <a:t>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→ = 0.5: one failure out of two is detected by the system</a:t>
            </a:r>
            <a:endParaRPr/>
          </a:p>
        </p:txBody>
      </p:sp>
      <p:pic>
        <p:nvPicPr>
          <p:cNvPr id="176" name="Google Shape;17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125" y="1017725"/>
            <a:ext cx="3707500" cy="836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7125" y="2896975"/>
            <a:ext cx="3259175" cy="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8"/>
          <p:cNvPicPr preferRelativeResize="0"/>
          <p:nvPr/>
        </p:nvPicPr>
        <p:blipFill rotWithShape="1">
          <a:blip r:embed="rId5">
            <a:alphaModFix amt="20000"/>
          </a:blip>
          <a:srcRect b="24975" l="17156" r="28913" t="7307"/>
          <a:stretch/>
        </p:blipFill>
        <p:spPr>
          <a:xfrm>
            <a:off x="5055825" y="1385850"/>
            <a:ext cx="4088176" cy="375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pt-BR"/>
              <a:t>KPI : Costs</a:t>
            </a:r>
            <a:endParaRPr/>
          </a:p>
        </p:txBody>
      </p:sp>
      <p:sp>
        <p:nvSpPr>
          <p:cNvPr id="184" name="Google Shape;184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cost_per_syst:</a:t>
            </a:r>
            <a:r>
              <a:rPr lang="pt-BR"/>
              <a:t> average cost of a system across the entire fleet</a:t>
            </a:r>
            <a:endParaRPr/>
          </a:p>
        </p:txBody>
      </p:sp>
      <p:pic>
        <p:nvPicPr>
          <p:cNvPr id="185" name="Google Shape;185;p29" title="cost_per_syst.png"/>
          <p:cNvPicPr preferRelativeResize="0"/>
          <p:nvPr/>
        </p:nvPicPr>
        <p:blipFill rotWithShape="1">
          <a:blip r:embed="rId3">
            <a:alphaModFix/>
          </a:blip>
          <a:srcRect b="1897" l="3641" r="57704" t="12632"/>
          <a:stretch/>
        </p:blipFill>
        <p:spPr>
          <a:xfrm>
            <a:off x="1077400" y="1783600"/>
            <a:ext cx="3843443" cy="3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9"/>
          <p:cNvPicPr preferRelativeResize="0"/>
          <p:nvPr/>
        </p:nvPicPr>
        <p:blipFill rotWithShape="1">
          <a:blip r:embed="rId4">
            <a:alphaModFix amt="20000"/>
          </a:blip>
          <a:srcRect b="24975" l="17156" r="28913" t="7307"/>
          <a:stretch/>
        </p:blipFill>
        <p:spPr>
          <a:xfrm>
            <a:off x="5055825" y="1385850"/>
            <a:ext cx="4088176" cy="375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idx="1" type="body"/>
          </p:nvPr>
        </p:nvSpPr>
        <p:spPr>
          <a:xfrm>
            <a:off x="219100" y="863550"/>
            <a:ext cx="3885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pt-BR"/>
              <a:t>cost_fleet_:</a:t>
            </a:r>
            <a:r>
              <a:rPr lang="pt-BR"/>
              <a:t> cost of the entire fleet per period</a:t>
            </a:r>
            <a:endParaRPr/>
          </a:p>
        </p:txBody>
      </p:sp>
      <p:sp>
        <p:nvSpPr>
          <p:cNvPr id="192" name="Google Shape;192;p30"/>
          <p:cNvSpPr txBox="1"/>
          <p:nvPr/>
        </p:nvSpPr>
        <p:spPr>
          <a:xfrm>
            <a:off x="4713350" y="878400"/>
            <a:ext cx="4206900" cy="3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pt-BR" sz="1800">
                <a:solidFill>
                  <a:schemeClr val="dk2"/>
                </a:solidFill>
              </a:rPr>
              <a:t>avg_cost_syst_ : </a:t>
            </a:r>
            <a:r>
              <a:rPr lang="pt-BR" sz="1800">
                <a:solidFill>
                  <a:schemeClr val="dk2"/>
                </a:solidFill>
              </a:rPr>
              <a:t>average cost of a system per period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93" name="Google Shape;193;p30" title="cost_fleet_m.png"/>
          <p:cNvPicPr preferRelativeResize="0"/>
          <p:nvPr/>
        </p:nvPicPr>
        <p:blipFill rotWithShape="1">
          <a:blip r:embed="rId3">
            <a:alphaModFix/>
          </a:blip>
          <a:srcRect b="4595" l="3408" r="57506" t="11392"/>
          <a:stretch/>
        </p:blipFill>
        <p:spPr>
          <a:xfrm>
            <a:off x="0" y="1692075"/>
            <a:ext cx="3728874" cy="3222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0" title="avg_cost_syst_m.png"/>
          <p:cNvPicPr preferRelativeResize="0"/>
          <p:nvPr/>
        </p:nvPicPr>
        <p:blipFill rotWithShape="1">
          <a:blip r:embed="rId4">
            <a:alphaModFix/>
          </a:blip>
          <a:srcRect b="0" l="4090" r="31093" t="9747"/>
          <a:stretch/>
        </p:blipFill>
        <p:spPr>
          <a:xfrm>
            <a:off x="3706175" y="1826000"/>
            <a:ext cx="5517201" cy="308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romanUcPeriod"/>
            </a:pPr>
            <a:r>
              <a:rPr lang="pt-BR"/>
              <a:t>C. Mathematical Description</a:t>
            </a:r>
            <a:endParaRPr/>
          </a:p>
        </p:txBody>
      </p:sp>
      <p:pic>
        <p:nvPicPr>
          <p:cNvPr id="200" name="Google Shape;20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050" y="1017725"/>
            <a:ext cx="6549300" cy="399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1"/>
          <p:cNvPicPr preferRelativeResize="0"/>
          <p:nvPr/>
        </p:nvPicPr>
        <p:blipFill rotWithShape="1">
          <a:blip r:embed="rId4">
            <a:alphaModFix amt="20000"/>
          </a:blip>
          <a:srcRect b="24975" l="17156" r="28913" t="7307"/>
          <a:stretch/>
        </p:blipFill>
        <p:spPr>
          <a:xfrm>
            <a:off x="5055825" y="1385850"/>
            <a:ext cx="4088176" cy="375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6200"/>
            <a:ext cx="7185824" cy="499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2"/>
          <p:cNvPicPr preferRelativeResize="0"/>
          <p:nvPr/>
        </p:nvPicPr>
        <p:blipFill rotWithShape="1">
          <a:blip r:embed="rId4">
            <a:alphaModFix amt="20000"/>
          </a:blip>
          <a:srcRect b="24975" l="17156" r="28913" t="7307"/>
          <a:stretch/>
        </p:blipFill>
        <p:spPr>
          <a:xfrm>
            <a:off x="5055825" y="1385850"/>
            <a:ext cx="4088176" cy="375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614133" cy="503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3"/>
          <p:cNvPicPr preferRelativeResize="0"/>
          <p:nvPr/>
        </p:nvPicPr>
        <p:blipFill rotWithShape="1">
          <a:blip r:embed="rId4">
            <a:alphaModFix amt="20000"/>
          </a:blip>
          <a:srcRect b="24975" l="17156" r="28913" t="7307"/>
          <a:stretch/>
        </p:blipFill>
        <p:spPr>
          <a:xfrm>
            <a:off x="5055825" y="1385850"/>
            <a:ext cx="4088176" cy="375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464"/>
            <a:ext cx="7100108" cy="510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4"/>
          <p:cNvPicPr preferRelativeResize="0"/>
          <p:nvPr/>
        </p:nvPicPr>
        <p:blipFill rotWithShape="1">
          <a:blip r:embed="rId4">
            <a:alphaModFix amt="20000"/>
          </a:blip>
          <a:srcRect b="24975" l="17156" r="28913" t="7307"/>
          <a:stretch/>
        </p:blipFill>
        <p:spPr>
          <a:xfrm>
            <a:off x="5055825" y="1385850"/>
            <a:ext cx="4088176" cy="375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"/>
          <p:cNvSpPr txBox="1"/>
          <p:nvPr>
            <p:ph type="title"/>
          </p:nvPr>
        </p:nvSpPr>
        <p:spPr>
          <a:xfrm>
            <a:off x="152400" y="0"/>
            <a:ext cx="8520600" cy="14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II. </a:t>
            </a:r>
            <a:r>
              <a:rPr lang="pt-BR" sz="2600"/>
              <a:t> Experiments </a:t>
            </a:r>
            <a:endParaRPr sz="26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AutoNum type="alphaUcPeriod"/>
            </a:pPr>
            <a:r>
              <a:rPr lang="pt-BR" sz="1766"/>
              <a:t>Exploratory Analysis</a:t>
            </a:r>
            <a:r>
              <a:rPr lang="pt-BR" sz="2966"/>
              <a:t> </a:t>
            </a:r>
            <a:endParaRPr sz="2100"/>
          </a:p>
        </p:txBody>
      </p:sp>
      <p:pic>
        <p:nvPicPr>
          <p:cNvPr id="225" name="Google Shape;225;p35" title="output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53672"/>
            <a:ext cx="8991598" cy="3920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6" title="output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2" cy="374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II. B.</a:t>
            </a:r>
            <a:r>
              <a:rPr lang="pt-BR" sz="3466"/>
              <a:t> </a:t>
            </a:r>
            <a:r>
              <a:rPr lang="pt-BR" sz="2266"/>
              <a:t>Impact des paramètres sur les performances du système</a:t>
            </a:r>
            <a:endParaRPr sz="3466"/>
          </a:p>
        </p:txBody>
      </p:sp>
      <p:sp>
        <p:nvSpPr>
          <p:cNvPr id="236" name="Google Shape;236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</a:rPr>
              <a:t>Objectif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pt-BR" sz="1100">
                <a:solidFill>
                  <a:schemeClr val="dk1"/>
                </a:solidFill>
              </a:rPr>
              <a:t>Étudier l’influence des paramètres du modèle sur les performances d’un système de maintenance simulé.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</a:rPr>
              <a:t>Méthode</a:t>
            </a:r>
            <a:endParaRPr b="1"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t-BR" sz="1100">
                <a:solidFill>
                  <a:schemeClr val="dk1"/>
                </a:solidFill>
              </a:rPr>
              <a:t>Simulation Monte Carlo sur </a:t>
            </a:r>
            <a:r>
              <a:rPr b="1" lang="pt-BR" sz="1100">
                <a:solidFill>
                  <a:schemeClr val="dk1"/>
                </a:solidFill>
              </a:rPr>
              <a:t>200 systèmes</a:t>
            </a:r>
            <a:endParaRPr b="1"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t-BR" sz="1100">
                <a:solidFill>
                  <a:schemeClr val="dk1"/>
                </a:solidFill>
              </a:rPr>
              <a:t>Horizon de simulation : </a:t>
            </a:r>
            <a:r>
              <a:rPr b="1" lang="pt-BR" sz="1100">
                <a:solidFill>
                  <a:schemeClr val="dk1"/>
                </a:solidFill>
              </a:rPr>
              <a:t>1 an (8760 h)</a:t>
            </a:r>
            <a:endParaRPr b="1"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pt-BR" sz="1100">
                <a:solidFill>
                  <a:schemeClr val="dk1"/>
                </a:solidFill>
              </a:rPr>
              <a:t>25 répétitions</a:t>
            </a:r>
            <a:r>
              <a:rPr lang="pt-BR" sz="1100">
                <a:solidFill>
                  <a:schemeClr val="dk1"/>
                </a:solidFill>
              </a:rPr>
              <a:t> par configuration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t-BR" sz="1100">
                <a:solidFill>
                  <a:schemeClr val="dk1"/>
                </a:solidFill>
              </a:rPr>
              <a:t>Analyse de sensibilité :</a:t>
            </a:r>
            <a:endParaRPr sz="1100">
              <a:solidFill>
                <a:schemeClr val="dk1"/>
              </a:solidFill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pt-BR" sz="1100">
                <a:solidFill>
                  <a:schemeClr val="dk1"/>
                </a:solidFill>
              </a:rPr>
              <a:t>variation </a:t>
            </a:r>
            <a:r>
              <a:rPr b="1" lang="pt-BR" sz="1100">
                <a:solidFill>
                  <a:schemeClr val="dk1"/>
                </a:solidFill>
              </a:rPr>
              <a:t>d’un paramètre (1D)</a:t>
            </a:r>
            <a:endParaRPr b="1" sz="1100">
              <a:solidFill>
                <a:schemeClr val="dk1"/>
              </a:solidFill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pt-BR" sz="1100">
                <a:solidFill>
                  <a:schemeClr val="dk1"/>
                </a:solidFill>
              </a:rPr>
              <a:t>variation </a:t>
            </a:r>
            <a:r>
              <a:rPr b="1" lang="pt-BR" sz="1100">
                <a:solidFill>
                  <a:schemeClr val="dk1"/>
                </a:solidFill>
              </a:rPr>
              <a:t>de deux paramètres (2D)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</a:rPr>
              <a:t>Indicateurs étudiés</a:t>
            </a:r>
            <a:endParaRPr b="1"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t-BR" sz="1100">
                <a:solidFill>
                  <a:schemeClr val="dk1"/>
                </a:solidFill>
              </a:rPr>
              <a:t>coût moyen de maintenance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t-BR" sz="1100">
                <a:solidFill>
                  <a:schemeClr val="dk1"/>
                </a:solidFill>
              </a:rPr>
              <a:t>nombre de pannes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t-BR" sz="1100">
                <a:solidFill>
                  <a:schemeClr val="dk1"/>
                </a:solidFill>
              </a:rPr>
              <a:t>précision et rappel de détection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t-BR" sz="1100">
                <a:solidFill>
                  <a:schemeClr val="dk1"/>
                </a:solidFill>
              </a:rPr>
              <a:t>efficacité préventive (PER)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Ces indicateurs permettent d’identifier les </a:t>
            </a:r>
            <a:r>
              <a:rPr b="1" lang="pt-BR" sz="1100">
                <a:solidFill>
                  <a:schemeClr val="dk1"/>
                </a:solidFill>
              </a:rPr>
              <a:t>paramètres les plus influents</a:t>
            </a:r>
            <a:r>
              <a:rPr lang="pt-BR" sz="1100">
                <a:solidFill>
                  <a:schemeClr val="dk1"/>
                </a:solidFill>
              </a:rPr>
              <a:t> et les </a:t>
            </a:r>
            <a:r>
              <a:rPr b="1" lang="pt-BR" sz="1100">
                <a:solidFill>
                  <a:schemeClr val="dk1"/>
                </a:solidFill>
              </a:rPr>
              <a:t>compromis entre coût et performance</a:t>
            </a:r>
            <a:r>
              <a:rPr lang="pt-BR" sz="1100">
                <a:solidFill>
                  <a:schemeClr val="dk1"/>
                </a:solidFill>
              </a:rPr>
              <a:t>.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237" name="Google Shape;237;p37"/>
          <p:cNvPicPr preferRelativeResize="0"/>
          <p:nvPr/>
        </p:nvPicPr>
        <p:blipFill rotWithShape="1">
          <a:blip r:embed="rId3">
            <a:alphaModFix amt="20000"/>
          </a:blip>
          <a:srcRect b="24975" l="17156" r="28913" t="7307"/>
          <a:stretch/>
        </p:blipFill>
        <p:spPr>
          <a:xfrm>
            <a:off x="5055825" y="1385850"/>
            <a:ext cx="4088176" cy="375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Influence du seuil de détection</a:t>
            </a:r>
            <a:endParaRPr/>
          </a:p>
        </p:txBody>
      </p:sp>
      <p:sp>
        <p:nvSpPr>
          <p:cNvPr id="243" name="Google Shape;243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pt-BR" sz="1100">
                <a:solidFill>
                  <a:schemeClr val="dk1"/>
                </a:solidFill>
              </a:rPr>
              <a:t>Le </a:t>
            </a:r>
            <a:r>
              <a:rPr b="1" lang="pt-BR" sz="1100">
                <a:solidFill>
                  <a:schemeClr val="dk1"/>
                </a:solidFill>
              </a:rPr>
              <a:t>seuil de détection</a:t>
            </a:r>
            <a:r>
              <a:rPr lang="pt-BR" sz="1100">
                <a:solidFill>
                  <a:schemeClr val="dk1"/>
                </a:solidFill>
              </a:rPr>
              <a:t> contrôle la sensibilité du système lors des inspections.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</a:rPr>
              <a:t>Résultats principaux</a:t>
            </a:r>
            <a:endParaRPr b="1"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t-BR" sz="1100">
                <a:solidFill>
                  <a:schemeClr val="dk1"/>
                </a:solidFill>
              </a:rPr>
              <a:t>Lorsque le seuil augmente :</a:t>
            </a:r>
            <a:endParaRPr sz="1100">
              <a:solidFill>
                <a:schemeClr val="dk1"/>
              </a:solidFill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pt-BR" sz="1100">
                <a:solidFill>
                  <a:schemeClr val="dk1"/>
                </a:solidFill>
              </a:rPr>
              <a:t>la précision chute fortement</a:t>
            </a:r>
            <a:endParaRPr b="1" sz="1100">
              <a:solidFill>
                <a:schemeClr val="dk1"/>
              </a:solidFill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pt-BR" sz="1100">
                <a:solidFill>
                  <a:schemeClr val="dk1"/>
                </a:solidFill>
              </a:rPr>
              <a:t>le rappel diminue</a:t>
            </a:r>
            <a:endParaRPr b="1" sz="1100">
              <a:solidFill>
                <a:schemeClr val="dk1"/>
              </a:solidFill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pt-BR" sz="1100">
                <a:solidFill>
                  <a:schemeClr val="dk1"/>
                </a:solidFill>
              </a:rPr>
              <a:t>le nombre de pannes augmente</a:t>
            </a:r>
            <a:endParaRPr b="1" sz="1100">
              <a:solidFill>
                <a:schemeClr val="dk1"/>
              </a:solidFill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pt-BR" sz="1100">
                <a:solidFill>
                  <a:schemeClr val="dk1"/>
                </a:solidFill>
              </a:rPr>
              <a:t>l’efficacité préventive (PER) diminue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pt-BR" sz="1100">
                <a:solidFill>
                  <a:schemeClr val="dk1"/>
                </a:solidFill>
              </a:rPr>
              <a:t>➡ Un seuil trop élevé retarde les interventions et augmente le risque de panne.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</a:rPr>
              <a:t>Zone favorable observée :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                                        threshold ≈ 0.2−0.4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        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                     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                       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44" name="Google Shape;244;p38" title="sweep_threshol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7975" y="534725"/>
            <a:ext cx="1971500" cy="4533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Influence de la fréquence des inspections</a:t>
            </a:r>
            <a:endParaRPr/>
          </a:p>
        </p:txBody>
      </p:sp>
      <p:sp>
        <p:nvSpPr>
          <p:cNvPr id="250" name="Google Shape;250;p39"/>
          <p:cNvSpPr txBox="1"/>
          <p:nvPr>
            <p:ph idx="1" type="body"/>
          </p:nvPr>
        </p:nvSpPr>
        <p:spPr>
          <a:xfrm>
            <a:off x="311700" y="1103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pt-BR" sz="1100">
                <a:solidFill>
                  <a:schemeClr val="dk1"/>
                </a:solidFill>
              </a:rPr>
              <a:t>Le paramètre </a:t>
            </a:r>
            <a:r>
              <a:rPr b="1" lang="pt-BR" sz="1100">
                <a:solidFill>
                  <a:schemeClr val="dk1"/>
                </a:solidFill>
              </a:rPr>
              <a:t>μ</a:t>
            </a:r>
            <a:r>
              <a:rPr lang="pt-BR" sz="1100">
                <a:solidFill>
                  <a:schemeClr val="dk1"/>
                </a:solidFill>
              </a:rPr>
              <a:t> représente l’intervalle moyen entre deux inspections.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</a:rPr>
              <a:t>Effets observés :</a:t>
            </a:r>
            <a:endParaRPr b="1" sz="1100"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pt-BR" sz="1100">
                <a:solidFill>
                  <a:schemeClr val="dk1"/>
                </a:solidFill>
              </a:rPr>
              <a:t>inspections fréquentes (μ faible)</a:t>
            </a:r>
            <a:endParaRPr b="1" sz="1100">
              <a:solidFill>
                <a:schemeClr val="dk1"/>
              </a:solidFill>
            </a:endParaRPr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pt-BR" sz="1100">
                <a:solidFill>
                  <a:schemeClr val="dk1"/>
                </a:solidFill>
              </a:rPr>
              <a:t>coût élevé</a:t>
            </a:r>
            <a:endParaRPr sz="1100">
              <a:solidFill>
                <a:schemeClr val="dk1"/>
              </a:solidFill>
            </a:endParaRPr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pt-BR" sz="1100">
                <a:solidFill>
                  <a:schemeClr val="dk1"/>
                </a:solidFill>
              </a:rPr>
              <a:t>davantage d’actions de maintenance</a:t>
            </a:r>
            <a:endParaRPr sz="1100"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pt-BR" sz="1100">
                <a:solidFill>
                  <a:schemeClr val="dk1"/>
                </a:solidFill>
              </a:rPr>
              <a:t>inspections plus espacées (μ élevé)</a:t>
            </a:r>
            <a:endParaRPr b="1" sz="1100">
              <a:solidFill>
                <a:schemeClr val="dk1"/>
              </a:solidFill>
            </a:endParaRPr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pt-BR" sz="1100">
                <a:solidFill>
                  <a:schemeClr val="dk1"/>
                </a:solidFill>
              </a:rPr>
              <a:t>coût plus faible</a:t>
            </a:r>
            <a:endParaRPr sz="1100">
              <a:solidFill>
                <a:schemeClr val="dk1"/>
              </a:solidFill>
            </a:endParaRPr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pt-BR" sz="1100">
                <a:solidFill>
                  <a:schemeClr val="dk1"/>
                </a:solidFill>
              </a:rPr>
              <a:t>précision plus élevée</a:t>
            </a:r>
            <a:endParaRPr sz="1100">
              <a:solidFill>
                <a:schemeClr val="dk1"/>
              </a:solidFill>
            </a:endParaRPr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pt-BR" sz="1100">
                <a:solidFill>
                  <a:schemeClr val="dk1"/>
                </a:solidFill>
              </a:rPr>
              <a:t>mais </a:t>
            </a:r>
            <a:r>
              <a:rPr b="1" lang="pt-BR" sz="1100">
                <a:solidFill>
                  <a:schemeClr val="dk1"/>
                </a:solidFill>
              </a:rPr>
              <a:t>rappel plus faible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pt-BR" sz="1100">
                <a:solidFill>
                  <a:schemeClr val="dk1"/>
                </a:solidFill>
              </a:rPr>
              <a:t>➡ Il existe donc un </a:t>
            </a:r>
            <a:r>
              <a:rPr b="1" lang="pt-BR" sz="1100">
                <a:solidFill>
                  <a:schemeClr val="dk1"/>
                </a:solidFill>
              </a:rPr>
              <a:t>compromis entre coût et qualité de détection</a:t>
            </a:r>
            <a:r>
              <a:rPr lang="pt-BR" sz="1100">
                <a:solidFill>
                  <a:schemeClr val="dk1"/>
                </a:solidFill>
              </a:rPr>
              <a:t>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</a:rPr>
              <a:t>Zones intéressantes</a:t>
            </a:r>
            <a:endParaRPr b="1" sz="1100"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pt-BR" sz="1100">
                <a:solidFill>
                  <a:schemeClr val="dk1"/>
                </a:solidFill>
              </a:rPr>
              <a:t>120–168 h</a:t>
            </a:r>
            <a:r>
              <a:rPr lang="pt-BR" sz="1100">
                <a:solidFill>
                  <a:schemeClr val="dk1"/>
                </a:solidFill>
              </a:rPr>
              <a:t> : peu de pannes</a:t>
            </a:r>
            <a:endParaRPr sz="1100"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pt-BR" sz="1100">
                <a:solidFill>
                  <a:schemeClr val="dk1"/>
                </a:solidFill>
              </a:rPr>
              <a:t>240–336 h</a:t>
            </a:r>
            <a:r>
              <a:rPr lang="pt-BR" sz="1100">
                <a:solidFill>
                  <a:schemeClr val="dk1"/>
                </a:solidFill>
              </a:rPr>
              <a:t> : coût plus faible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39" title="sweep_mu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2596" y="59000"/>
            <a:ext cx="197150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0"/>
          <p:cNvSpPr txBox="1"/>
          <p:nvPr>
            <p:ph type="title"/>
          </p:nvPr>
        </p:nvSpPr>
        <p:spPr>
          <a:xfrm>
            <a:off x="385600" y="436825"/>
            <a:ext cx="8520600" cy="8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</a:t>
            </a:r>
            <a:r>
              <a:rPr lang="pt-BR"/>
              <a:t>ariabilité: inspections et dégradation</a:t>
            </a:r>
            <a:endParaRPr/>
          </a:p>
        </p:txBody>
      </p:sp>
      <p:sp>
        <p:nvSpPr>
          <p:cNvPr id="257" name="Google Shape;257;p40"/>
          <p:cNvSpPr txBox="1"/>
          <p:nvPr>
            <p:ph idx="1" type="body"/>
          </p:nvPr>
        </p:nvSpPr>
        <p:spPr>
          <a:xfrm>
            <a:off x="311700" y="1346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dk1"/>
                </a:solidFill>
              </a:rPr>
              <a:t>Deux paramètres de variabilité ont été étudiés 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pt-BR" sz="1100">
                <a:solidFill>
                  <a:schemeClr val="dk1"/>
                </a:solidFill>
              </a:rPr>
              <a:t>inspection_deviation</a:t>
            </a:r>
            <a:r>
              <a:rPr lang="pt-BR" sz="1100">
                <a:solidFill>
                  <a:schemeClr val="dk1"/>
                </a:solidFill>
              </a:rPr>
              <a:t> : irrégularité des inspections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pt-BR" sz="1100">
                <a:solidFill>
                  <a:schemeClr val="dk1"/>
                </a:solidFill>
              </a:rPr>
              <a:t>σ (sigma)</a:t>
            </a:r>
            <a:r>
              <a:rPr lang="pt-BR" sz="1100">
                <a:solidFill>
                  <a:schemeClr val="dk1"/>
                </a:solidFill>
              </a:rPr>
              <a:t> : variabilité du processus de dégradation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</a:rPr>
              <a:t>Résultats principaux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Une </a:t>
            </a:r>
            <a:r>
              <a:rPr b="1" lang="pt-BR" sz="1100">
                <a:solidFill>
                  <a:schemeClr val="dk1"/>
                </a:solidFill>
              </a:rPr>
              <a:t>variabilité plus forte diminue la précision du détecteur</a:t>
            </a:r>
            <a:r>
              <a:rPr lang="pt-BR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Les inspections irrégulières rendent l’état du système </a:t>
            </a:r>
            <a:r>
              <a:rPr b="1" lang="pt-BR" sz="1100">
                <a:solidFill>
                  <a:schemeClr val="dk1"/>
                </a:solidFill>
              </a:rPr>
              <a:t>moins observable</a:t>
            </a:r>
            <a:r>
              <a:rPr lang="pt-BR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L’augmentation de σ rend également la détection </a:t>
            </a:r>
            <a:r>
              <a:rPr b="1" lang="pt-BR" sz="1100">
                <a:solidFill>
                  <a:schemeClr val="dk1"/>
                </a:solidFill>
              </a:rPr>
              <a:t>moins fiable</a:t>
            </a:r>
            <a:r>
              <a:rPr lang="pt-BR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dk1"/>
                </a:solidFill>
              </a:rPr>
              <a:t>➡ Les meilleurs résultats sont obtenus pour </a:t>
            </a:r>
            <a:r>
              <a:rPr b="1" lang="pt-BR" sz="1100">
                <a:solidFill>
                  <a:schemeClr val="dk1"/>
                </a:solidFill>
              </a:rPr>
              <a:t>des niveaux de variabilité faibles à modérés</a:t>
            </a:r>
            <a:r>
              <a:rPr lang="pt-BR" sz="1100">
                <a:solidFill>
                  <a:schemeClr val="dk1"/>
                </a:solidFill>
              </a:rPr>
              <a:t>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8" name="Google Shape;258;p40" title="sweep_devi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4725" y="197050"/>
            <a:ext cx="1971500" cy="451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Interactions entre paramètres</a:t>
            </a:r>
            <a:endParaRPr/>
          </a:p>
        </p:txBody>
      </p:sp>
      <p:sp>
        <p:nvSpPr>
          <p:cNvPr id="264" name="Google Shape;264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dk1"/>
                </a:solidFill>
              </a:rPr>
              <a:t>Les analyses 2D montrent que les paramètres </a:t>
            </a:r>
            <a:r>
              <a:rPr b="1" lang="pt-BR" sz="1100">
                <a:solidFill>
                  <a:schemeClr val="dk1"/>
                </a:solidFill>
              </a:rPr>
              <a:t>interagissent fortement</a:t>
            </a:r>
            <a:r>
              <a:rPr lang="pt-BR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</a:rPr>
              <a:t>Exemple : seuil de détection × intervalle d’inspection                           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dk1"/>
                </a:solidFill>
              </a:rPr>
              <a:t>Résultats observés 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coût minimal pour</a:t>
            </a:r>
            <a:br>
              <a:rPr lang="pt-BR" sz="1100">
                <a:solidFill>
                  <a:schemeClr val="dk1"/>
                </a:solidFill>
              </a:rPr>
            </a:br>
            <a:r>
              <a:rPr b="1" lang="pt-BR" sz="1100">
                <a:solidFill>
                  <a:schemeClr val="dk1"/>
                </a:solidFill>
              </a:rPr>
              <a:t>seuil intermédiaire + inspections espacées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plus de pannes lorsque 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pt-BR" sz="1100">
                <a:solidFill>
                  <a:schemeClr val="dk1"/>
                </a:solidFill>
              </a:rPr>
              <a:t>seuil élevé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pt-BR" sz="1100">
                <a:solidFill>
                  <a:schemeClr val="dk1"/>
                </a:solidFill>
              </a:rPr>
              <a:t>inspections espacées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➡ Une politique de maintenance efficace doit </a:t>
            </a:r>
            <a:r>
              <a:rPr b="1" lang="pt-BR" sz="1100">
                <a:solidFill>
                  <a:schemeClr val="dk1"/>
                </a:solidFill>
              </a:rPr>
              <a:t>optimiser les paramètres conjointement</a:t>
            </a:r>
            <a:r>
              <a:rPr lang="pt-BR" sz="1100">
                <a:solidFill>
                  <a:schemeClr val="dk1"/>
                </a:solidFill>
              </a:rPr>
              <a:t> et non indépendamment.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5" name="Google Shape;265;p41"/>
          <p:cNvPicPr preferRelativeResize="0"/>
          <p:nvPr/>
        </p:nvPicPr>
        <p:blipFill rotWithShape="1">
          <a:blip r:embed="rId3">
            <a:alphaModFix amt="20000"/>
          </a:blip>
          <a:srcRect b="24975" l="17156" r="28913" t="7307"/>
          <a:stretch/>
        </p:blipFill>
        <p:spPr>
          <a:xfrm>
            <a:off x="5055825" y="1385850"/>
            <a:ext cx="4088176" cy="375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2"/>
          <p:cNvSpPr txBox="1"/>
          <p:nvPr>
            <p:ph type="title"/>
          </p:nvPr>
        </p:nvSpPr>
        <p:spPr>
          <a:xfrm>
            <a:off x="311700" y="387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/>
              <a:t>Cout selon seuit et mu (h)</a:t>
            </a:r>
            <a:endParaRPr/>
          </a:p>
        </p:txBody>
      </p:sp>
      <p:sp>
        <p:nvSpPr>
          <p:cNvPr id="271" name="Google Shape;271;p42"/>
          <p:cNvSpPr txBox="1"/>
          <p:nvPr>
            <p:ph idx="1" type="body"/>
          </p:nvPr>
        </p:nvSpPr>
        <p:spPr>
          <a:xfrm>
            <a:off x="311700" y="11334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2" name="Google Shape;272;p42" title="heatmap_cos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7" y="914350"/>
            <a:ext cx="717493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Panne selon un seuil et mu (h)</a:t>
            </a:r>
            <a:endParaRPr/>
          </a:p>
        </p:txBody>
      </p:sp>
      <p:sp>
        <p:nvSpPr>
          <p:cNvPr id="278" name="Google Shape;278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9" name="Google Shape;279;p43" title="heatmap_failur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8" y="1152475"/>
            <a:ext cx="713283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Résumé</a:t>
            </a:r>
            <a:endParaRPr/>
          </a:p>
        </p:txBody>
      </p:sp>
      <p:sp>
        <p:nvSpPr>
          <p:cNvPr id="285" name="Google Shape;285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</a:rPr>
              <a:t>Principaux résultats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Le </a:t>
            </a:r>
            <a:r>
              <a:rPr b="1" lang="pt-BR" sz="1100">
                <a:solidFill>
                  <a:schemeClr val="dk1"/>
                </a:solidFill>
              </a:rPr>
              <a:t>seuil de détection</a:t>
            </a:r>
            <a:r>
              <a:rPr lang="pt-BR" sz="1100">
                <a:solidFill>
                  <a:schemeClr val="dk1"/>
                </a:solidFill>
              </a:rPr>
              <a:t> est le paramètre le plus influent :</a:t>
            </a:r>
            <a:br>
              <a:rPr lang="pt-BR" sz="1100">
                <a:solidFill>
                  <a:schemeClr val="dk1"/>
                </a:solidFill>
              </a:rPr>
            </a:br>
            <a:r>
              <a:rPr lang="pt-BR" sz="1100">
                <a:solidFill>
                  <a:schemeClr val="dk1"/>
                </a:solidFill>
              </a:rPr>
              <a:t>un seuil trop élevé réduit fortement la précision et augmente les pannes.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L’</a:t>
            </a:r>
            <a:r>
              <a:rPr b="1" lang="pt-BR" sz="1100">
                <a:solidFill>
                  <a:schemeClr val="dk1"/>
                </a:solidFill>
              </a:rPr>
              <a:t>intervalle entre inspections (μ)</a:t>
            </a:r>
            <a:r>
              <a:rPr lang="pt-BR" sz="1100">
                <a:solidFill>
                  <a:schemeClr val="dk1"/>
                </a:solidFill>
              </a:rPr>
              <a:t> introduit un </a:t>
            </a:r>
            <a:r>
              <a:rPr b="1" lang="pt-BR" sz="1100">
                <a:solidFill>
                  <a:schemeClr val="dk1"/>
                </a:solidFill>
              </a:rPr>
              <a:t>compromis entre coût et performance</a:t>
            </a:r>
            <a:r>
              <a:rPr lang="pt-BR" sz="1100">
                <a:solidFill>
                  <a:schemeClr val="dk1"/>
                </a:solidFill>
              </a:rPr>
              <a:t> 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pt-BR" sz="1100">
                <a:solidFill>
                  <a:schemeClr val="dk1"/>
                </a:solidFill>
              </a:rPr>
              <a:t>inspections fréquentes → coût élevé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pt-BR" sz="1100">
                <a:solidFill>
                  <a:schemeClr val="dk1"/>
                </a:solidFill>
              </a:rPr>
              <a:t>inspections espacées → détection moins efficace.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Les paramètres de </a:t>
            </a:r>
            <a:r>
              <a:rPr b="1" lang="pt-BR" sz="1100">
                <a:solidFill>
                  <a:schemeClr val="dk1"/>
                </a:solidFill>
              </a:rPr>
              <a:t>variabilité</a:t>
            </a:r>
            <a:r>
              <a:rPr lang="pt-BR" sz="1100">
                <a:solidFill>
                  <a:schemeClr val="dk1"/>
                </a:solidFill>
              </a:rPr>
              <a:t> (inspection et dégradation) affectent surtout la </a:t>
            </a:r>
            <a:r>
              <a:rPr b="1" lang="pt-BR" sz="1100">
                <a:solidFill>
                  <a:schemeClr val="dk1"/>
                </a:solidFill>
              </a:rPr>
              <a:t>robustesse de la détection</a:t>
            </a:r>
            <a:r>
              <a:rPr lang="pt-BR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Les analyses 2D montrent des </a:t>
            </a:r>
            <a:r>
              <a:rPr b="1" lang="pt-BR" sz="1100">
                <a:solidFill>
                  <a:schemeClr val="dk1"/>
                </a:solidFill>
              </a:rPr>
              <a:t>interactions importantes entre paramètres</a:t>
            </a:r>
            <a:r>
              <a:rPr lang="pt-BR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</a:rPr>
              <a:t>Conclusion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dk1"/>
                </a:solidFill>
              </a:rPr>
              <a:t>➡ Le réglage optimal d’une politique de maintenance nécessite </a:t>
            </a:r>
            <a:r>
              <a:rPr b="1" lang="pt-BR" sz="1100">
                <a:solidFill>
                  <a:schemeClr val="dk1"/>
                </a:solidFill>
              </a:rPr>
              <a:t>une optimisation conjointe des paramètres</a:t>
            </a:r>
            <a:r>
              <a:rPr lang="pt-BR" sz="1100">
                <a:solidFill>
                  <a:schemeClr val="dk1"/>
                </a:solidFill>
              </a:rPr>
              <a:t> afin d’équilibrer 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coût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risque de panne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100">
                <a:solidFill>
                  <a:schemeClr val="dk1"/>
                </a:solidFill>
              </a:rPr>
              <a:t>qualité de détection</a:t>
            </a:r>
            <a:endParaRPr/>
          </a:p>
        </p:txBody>
      </p:sp>
      <p:pic>
        <p:nvPicPr>
          <p:cNvPr id="286" name="Google Shape;286;p44"/>
          <p:cNvPicPr preferRelativeResize="0"/>
          <p:nvPr/>
        </p:nvPicPr>
        <p:blipFill rotWithShape="1">
          <a:blip r:embed="rId3">
            <a:alphaModFix amt="20000"/>
          </a:blip>
          <a:srcRect b="24975" l="17156" r="28913" t="7307"/>
          <a:stretch/>
        </p:blipFill>
        <p:spPr>
          <a:xfrm>
            <a:off x="5055825" y="1385850"/>
            <a:ext cx="4088176" cy="375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II. C. </a:t>
            </a:r>
            <a:r>
              <a:rPr lang="pt-BR" sz="2600"/>
              <a:t>Model Inversion</a:t>
            </a:r>
            <a:endParaRPr sz="3800"/>
          </a:p>
        </p:txBody>
      </p:sp>
      <p:pic>
        <p:nvPicPr>
          <p:cNvPr id="292" name="Google Shape;29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75" y="1017725"/>
            <a:ext cx="4447125" cy="412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1" y="1017725"/>
            <a:ext cx="4504449" cy="383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5"/>
          <p:cNvPicPr preferRelativeResize="0"/>
          <p:nvPr/>
        </p:nvPicPr>
        <p:blipFill rotWithShape="1">
          <a:blip r:embed="rId5">
            <a:alphaModFix amt="20000"/>
          </a:blip>
          <a:srcRect b="24975" l="17156" r="28913" t="7307"/>
          <a:stretch/>
        </p:blipFill>
        <p:spPr>
          <a:xfrm>
            <a:off x="5055825" y="1385850"/>
            <a:ext cx="4088176" cy="375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46"/>
          <p:cNvPicPr preferRelativeResize="0"/>
          <p:nvPr/>
        </p:nvPicPr>
        <p:blipFill rotWithShape="1">
          <a:blip r:embed="rId3">
            <a:alphaModFix/>
          </a:blip>
          <a:srcRect b="6560" l="0" r="0" t="0"/>
          <a:stretch/>
        </p:blipFill>
        <p:spPr>
          <a:xfrm>
            <a:off x="0" y="43175"/>
            <a:ext cx="7536550" cy="504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46"/>
          <p:cNvPicPr preferRelativeResize="0"/>
          <p:nvPr/>
        </p:nvPicPr>
        <p:blipFill rotWithShape="1">
          <a:blip r:embed="rId4">
            <a:alphaModFix amt="20000"/>
          </a:blip>
          <a:srcRect b="24975" l="17156" r="28913" t="7307"/>
          <a:stretch/>
        </p:blipFill>
        <p:spPr>
          <a:xfrm>
            <a:off x="5055825" y="1385850"/>
            <a:ext cx="4088176" cy="375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Densité et fonction de survie de la loi de Weibull</a:t>
            </a:r>
            <a:endParaRPr/>
          </a:p>
        </p:txBody>
      </p:sp>
      <p:pic>
        <p:nvPicPr>
          <p:cNvPr id="306" name="Google Shape;306;p47" title="Screenshot 2026-03-09 14.19.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283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/>
              <a:t>Les resultats</a:t>
            </a:r>
            <a:r>
              <a:rPr lang="pt-BR"/>
              <a:t> : </a:t>
            </a:r>
            <a:endParaRPr/>
          </a:p>
        </p:txBody>
      </p:sp>
      <p:pic>
        <p:nvPicPr>
          <p:cNvPr id="312" name="Google Shape;312;p48" title="Screenshot 2026-03-09 13.59.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419600" cy="2628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8" title="Screenshot 2026-03-09 14.00.5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400" y="1170125"/>
            <a:ext cx="4267200" cy="2538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49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513" y="2571750"/>
            <a:ext cx="4310969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49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6525" y="0"/>
            <a:ext cx="4310952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50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513" y="2511250"/>
            <a:ext cx="4310962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50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9327" y="0"/>
            <a:ext cx="4209525" cy="2511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574"/>
            <a:ext cx="7207126" cy="5098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51"/>
          <p:cNvPicPr preferRelativeResize="0"/>
          <p:nvPr/>
        </p:nvPicPr>
        <p:blipFill rotWithShape="1">
          <a:blip r:embed="rId4">
            <a:alphaModFix amt="20000"/>
          </a:blip>
          <a:srcRect b="24975" l="17156" r="28913" t="7307"/>
          <a:stretch/>
        </p:blipFill>
        <p:spPr>
          <a:xfrm>
            <a:off x="5055825" y="1385850"/>
            <a:ext cx="4088176" cy="375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II. D. </a:t>
            </a:r>
            <a:r>
              <a:rPr lang="pt-BR"/>
              <a:t>Parameter Optimization</a:t>
            </a:r>
            <a:endParaRPr/>
          </a:p>
        </p:txBody>
      </p:sp>
      <p:sp>
        <p:nvSpPr>
          <p:cNvPr id="337" name="Google Shape;337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900"/>
              <a:t>Goal:</a:t>
            </a:r>
            <a:br>
              <a:rPr b="1" lang="pt-BR" sz="1900"/>
            </a:br>
            <a:r>
              <a:rPr lang="pt-BR" sz="1900"/>
              <a:t>Automatically find the optimal parameters minimizing the system cost.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900"/>
              <a:t>Parameters optimized: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900"/>
              <a:t>θ = (μ, σ, θ, inspection_deviation, inspection_threshold)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900"/>
              <a:t>Objective function:</a:t>
            </a:r>
            <a:endParaRPr b="1"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900"/>
              <a:t>J(θ) = E</a:t>
            </a:r>
            <a:r>
              <a:rPr lang="pt-BR" sz="1900"/>
              <a:t>[C(θ)] + α · Std(C(θ))</a:t>
            </a:r>
            <a:endParaRPr sz="19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Total average cost of one system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Standard deviation </a:t>
            </a:r>
            <a:endParaRPr/>
          </a:p>
        </p:txBody>
      </p:sp>
      <p:pic>
        <p:nvPicPr>
          <p:cNvPr id="338" name="Google Shape;338;p52"/>
          <p:cNvPicPr preferRelativeResize="0"/>
          <p:nvPr/>
        </p:nvPicPr>
        <p:blipFill rotWithShape="1">
          <a:blip r:embed="rId3">
            <a:alphaModFix amt="20000"/>
          </a:blip>
          <a:srcRect b="24975" l="17156" r="28913" t="7307"/>
          <a:stretch/>
        </p:blipFill>
        <p:spPr>
          <a:xfrm>
            <a:off x="5055825" y="1385850"/>
            <a:ext cx="4088176" cy="375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II.D. </a:t>
            </a:r>
            <a:r>
              <a:rPr lang="pt-BR"/>
              <a:t>Optimization Challenges</a:t>
            </a:r>
            <a:endParaRPr/>
          </a:p>
        </p:txBody>
      </p:sp>
      <p:sp>
        <p:nvSpPr>
          <p:cNvPr id="344" name="Google Shape;344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/>
              <a:t>The simulator produces a cost function that is:</a:t>
            </a:r>
            <a:endParaRPr sz="1900"/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pt-BR" sz="1900"/>
              <a:t>non-linear.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pt-BR" sz="1900"/>
              <a:t>non-convex.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pt-BR" sz="1900"/>
              <a:t>non-differentiable.</a:t>
            </a:r>
            <a:endParaRPr sz="19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900"/>
              <a:t>Therefore, no analytical gradient exists</a:t>
            </a:r>
            <a:endParaRPr sz="1900"/>
          </a:p>
        </p:txBody>
      </p:sp>
      <p:pic>
        <p:nvPicPr>
          <p:cNvPr id="345" name="Google Shape;345;p53"/>
          <p:cNvPicPr preferRelativeResize="0"/>
          <p:nvPr/>
        </p:nvPicPr>
        <p:blipFill rotWithShape="1">
          <a:blip r:embed="rId3">
            <a:alphaModFix amt="20000"/>
          </a:blip>
          <a:srcRect b="24975" l="17156" r="28913" t="7307"/>
          <a:stretch/>
        </p:blipFill>
        <p:spPr>
          <a:xfrm>
            <a:off x="5055825" y="1385850"/>
            <a:ext cx="4088176" cy="375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00">
                <a:solidFill>
                  <a:schemeClr val="dk1"/>
                </a:solidFill>
              </a:rPr>
              <a:t>     </a:t>
            </a:r>
            <a:r>
              <a:rPr b="1" lang="pt-BR" sz="2500"/>
              <a:t>Genetic</a:t>
            </a:r>
            <a:r>
              <a:rPr b="1" lang="pt-BR" sz="2500"/>
              <a:t> algorithm</a:t>
            </a:r>
            <a:endParaRPr b="1" sz="2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500"/>
              <a:t>Genetic Algorithm to search for the parameters that minimize this cost.</a:t>
            </a:r>
            <a:endParaRPr sz="2500"/>
          </a:p>
        </p:txBody>
      </p:sp>
      <p:sp>
        <p:nvSpPr>
          <p:cNvPr id="351" name="Google Shape;351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           II.D.                  Plan</a:t>
            </a:r>
            <a:endParaRPr/>
          </a:p>
        </p:txBody>
      </p:sp>
      <p:sp>
        <p:nvSpPr>
          <p:cNvPr id="352" name="Google Shape;352;p54"/>
          <p:cNvSpPr txBox="1"/>
          <p:nvPr>
            <p:ph idx="1" type="body"/>
          </p:nvPr>
        </p:nvSpPr>
        <p:spPr>
          <a:xfrm>
            <a:off x="311700" y="101772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/>
              <a:t>Monte-Carlo Estimation</a:t>
            </a:r>
            <a:endParaRPr b="1" sz="2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/>
              <a:t>Estimating the cost by averaging the results of M Monte-Carlo simulations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353" name="Google Shape;353;p54"/>
          <p:cNvPicPr preferRelativeResize="0"/>
          <p:nvPr/>
        </p:nvPicPr>
        <p:blipFill rotWithShape="1">
          <a:blip r:embed="rId3">
            <a:alphaModFix amt="20000"/>
          </a:blip>
          <a:srcRect b="24975" l="17156" r="28913" t="7307"/>
          <a:stretch/>
        </p:blipFill>
        <p:spPr>
          <a:xfrm>
            <a:off x="5055825" y="1385850"/>
            <a:ext cx="4088176" cy="375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II.D. Steps of Genetic Algorithm</a:t>
            </a:r>
            <a:endParaRPr/>
          </a:p>
        </p:txBody>
      </p:sp>
      <p:sp>
        <p:nvSpPr>
          <p:cNvPr id="359" name="Google Shape;359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Population initialization : Sampled uniformly within predefined bounds.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Fitness Evaluation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Selection : Choose the best among k randomly selected individuals.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Crossover : Combined the selected </a:t>
            </a:r>
            <a:r>
              <a:rPr lang="pt-BR"/>
              <a:t>individuals</a:t>
            </a:r>
            <a:r>
              <a:rPr lang="pt-BR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Mutation : To maintain diversity, small random perturbations are applied.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Elitism : The best individuals are preserved across generations: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Immigration : some individuals are replaced by randomly generated solutions</a:t>
            </a:r>
            <a:r>
              <a:rPr lang="pt-BR" sz="1100"/>
              <a:t>.</a:t>
            </a:r>
            <a:endParaRPr sz="11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New generation :</a:t>
            </a:r>
            <a:endParaRPr/>
          </a:p>
          <a:p>
            <a:pPr indent="0" lvl="0" marL="2286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600"/>
              <a:t>elites + children + immigrants</a:t>
            </a:r>
            <a:endParaRPr sz="2300"/>
          </a:p>
        </p:txBody>
      </p:sp>
      <p:pic>
        <p:nvPicPr>
          <p:cNvPr id="360" name="Google Shape;360;p55"/>
          <p:cNvPicPr preferRelativeResize="0"/>
          <p:nvPr/>
        </p:nvPicPr>
        <p:blipFill rotWithShape="1">
          <a:blip r:embed="rId3">
            <a:alphaModFix amt="20000"/>
          </a:blip>
          <a:srcRect b="24975" l="17156" r="28913" t="7307"/>
          <a:stretch/>
        </p:blipFill>
        <p:spPr>
          <a:xfrm>
            <a:off x="5055825" y="1385850"/>
            <a:ext cx="4088176" cy="375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67" name="Google Shape;367;p56" title="ChatGPT Image Mar 7, 2026, 01_35_31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45025"/>
            <a:ext cx="8520599" cy="4698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7"/>
          <p:cNvSpPr txBox="1"/>
          <p:nvPr>
            <p:ph type="title"/>
          </p:nvPr>
        </p:nvSpPr>
        <p:spPr>
          <a:xfrm>
            <a:off x="311700" y="94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GA parameters</a:t>
            </a:r>
            <a:endParaRPr/>
          </a:p>
        </p:txBody>
      </p:sp>
      <p:graphicFrame>
        <p:nvGraphicFramePr>
          <p:cNvPr id="373" name="Google Shape;373;p57"/>
          <p:cNvGraphicFramePr/>
          <p:nvPr/>
        </p:nvGraphicFramePr>
        <p:xfrm>
          <a:off x="952500" y="910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{AE5F60FC-B4D7-4067-82C6-94315F13D76C}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13716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Parameter </a:t>
                      </a:r>
                      <a:endParaRPr b="1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716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Value</a:t>
                      </a:r>
                      <a:endParaRPr b="1"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Population size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30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Max generations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50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Elitism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Tournament size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Mutation probability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0.30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Mutation σ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0.15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M fast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M large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20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Immigration rate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0.2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8" name="Google Shape;378;p58"/>
          <p:cNvGraphicFramePr/>
          <p:nvPr/>
        </p:nvGraphicFramePr>
        <p:xfrm>
          <a:off x="952500" y="41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{AE5F60FC-B4D7-4067-82C6-94315F13D76C}</a:tableStyleId>
              </a:tblPr>
              <a:tblGrid>
                <a:gridCol w="2413000"/>
                <a:gridCol w="2413000"/>
                <a:gridCol w="2413000"/>
              </a:tblGrid>
              <a:tr h="70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Parameters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Estimated / Initial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Optimized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0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mu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50">
                          <a:solidFill>
                            <a:schemeClr val="dk1"/>
                          </a:solidFill>
                        </a:rPr>
                        <a:t>166.54 (est)</a:t>
                      </a:r>
                      <a:endParaRPr sz="1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304.61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0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sigma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50">
                          <a:solidFill>
                            <a:schemeClr val="dk1"/>
                          </a:solidFill>
                        </a:rPr>
                        <a:t>26.70 (est)</a:t>
                      </a:r>
                      <a:endParaRPr sz="15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56.99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0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theta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11.35 (est)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12.60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0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inspection deviation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0.05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0.9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0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inspection threshold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59" title="output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725" y="1028700"/>
            <a:ext cx="5610225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59"/>
          <p:cNvSpPr txBox="1"/>
          <p:nvPr/>
        </p:nvSpPr>
        <p:spPr>
          <a:xfrm>
            <a:off x="5800850" y="1152025"/>
            <a:ext cx="3232500" cy="35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Initial cost = 75059.30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Optimized cost = 65113.49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Gain = 13.25 %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60"/>
          <p:cNvPicPr preferRelativeResize="0"/>
          <p:nvPr/>
        </p:nvPicPr>
        <p:blipFill rotWithShape="1">
          <a:blip r:embed="rId3">
            <a:alphaModFix amt="20000"/>
          </a:blip>
          <a:srcRect b="24975" l="17156" r="28913" t="7307"/>
          <a:stretch/>
        </p:blipFill>
        <p:spPr>
          <a:xfrm>
            <a:off x="5055825" y="1385850"/>
            <a:ext cx="4088176" cy="37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6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III. </a:t>
            </a:r>
            <a:r>
              <a:rPr lang="pt-BR"/>
              <a:t>Maintenance Pipeline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61"/>
          <p:cNvPicPr preferRelativeResize="0"/>
          <p:nvPr/>
        </p:nvPicPr>
        <p:blipFill rotWithShape="1">
          <a:blip r:embed="rId3">
            <a:alphaModFix amt="20000"/>
          </a:blip>
          <a:srcRect b="24975" l="17156" r="28913" t="7307"/>
          <a:stretch/>
        </p:blipFill>
        <p:spPr>
          <a:xfrm>
            <a:off x="5055825" y="1385850"/>
            <a:ext cx="4088176" cy="37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romanUcPeriod"/>
            </a:pPr>
            <a:r>
              <a:rPr lang="pt-BR"/>
              <a:t>A. Pipeline Library (PipMCM2D)</a:t>
            </a:r>
            <a:endParaRPr/>
          </a:p>
        </p:txBody>
      </p:sp>
      <p:sp>
        <p:nvSpPr>
          <p:cNvPr id="397" name="Google Shape;397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Functionalities: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Parameter Estimation (unknown param)</a:t>
            </a:r>
            <a:r>
              <a:rPr i="1" lang="pt-BR"/>
              <a:t>:</a:t>
            </a:r>
            <a:endParaRPr i="1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i="1" lang="pt-BR"/>
              <a:t>estimate_parameters</a:t>
            </a:r>
            <a:endParaRPr i="1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i="1" lang="pt-BR"/>
              <a:t>estimate_parameters_filepath</a:t>
            </a:r>
            <a:endParaRPr i="1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Policy Optimization (genetic algorithm):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compute_cost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/>
              <a:t>algorithme_genetique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Documentation: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README.md  - Installation/Requirements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examples/parameter_estimator.ipynb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examples/AG_Optimisation.ipynb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examples/pipeline_example.ipynb</a:t>
            </a:r>
            <a:endParaRPr/>
          </a:p>
        </p:txBody>
      </p:sp>
      <p:pic>
        <p:nvPicPr>
          <p:cNvPr id="398" name="Google Shape;398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64550" y="198075"/>
            <a:ext cx="1599250" cy="159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62"/>
          <p:cNvPicPr preferRelativeResize="0"/>
          <p:nvPr/>
        </p:nvPicPr>
        <p:blipFill rotWithShape="1">
          <a:blip r:embed="rId3">
            <a:alphaModFix amt="20000"/>
          </a:blip>
          <a:srcRect b="24975" l="17156" r="28913" t="7307"/>
          <a:stretch/>
        </p:blipFill>
        <p:spPr>
          <a:xfrm>
            <a:off x="5055825" y="1385850"/>
            <a:ext cx="4088176" cy="37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romanUcPeriod"/>
            </a:pPr>
            <a:r>
              <a:rPr lang="pt-BR"/>
              <a:t>A. Pipeline Library (PipMCM2D)</a:t>
            </a:r>
            <a:endParaRPr/>
          </a:p>
        </p:txBody>
      </p:sp>
      <p:sp>
        <p:nvSpPr>
          <p:cNvPr id="405" name="Google Shape;405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6" name="Google Shape;406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64550" y="198075"/>
            <a:ext cx="1599250" cy="1599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62"/>
          <p:cNvSpPr/>
          <p:nvPr/>
        </p:nvSpPr>
        <p:spPr>
          <a:xfrm>
            <a:off x="686775" y="1768075"/>
            <a:ext cx="1797300" cy="217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Simulate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“Real” Sample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+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Descriptive </a:t>
            </a:r>
            <a:r>
              <a:rPr lang="pt-BR" sz="1800"/>
              <a:t>Analysis</a:t>
            </a:r>
            <a:endParaRPr sz="1800"/>
          </a:p>
        </p:txBody>
      </p:sp>
      <p:sp>
        <p:nvSpPr>
          <p:cNvPr id="408" name="Google Shape;408;p62"/>
          <p:cNvSpPr/>
          <p:nvPr/>
        </p:nvSpPr>
        <p:spPr>
          <a:xfrm>
            <a:off x="6659925" y="1772125"/>
            <a:ext cx="1797300" cy="217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Sample and to Optimize from “Same Family” of systems</a:t>
            </a:r>
            <a:endParaRPr sz="1800"/>
          </a:p>
        </p:txBody>
      </p:sp>
      <p:sp>
        <p:nvSpPr>
          <p:cNvPr id="409" name="Google Shape;409;p62"/>
          <p:cNvSpPr/>
          <p:nvPr/>
        </p:nvSpPr>
        <p:spPr>
          <a:xfrm>
            <a:off x="3673350" y="1768075"/>
            <a:ext cx="1797300" cy="217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Use “Known” Parameters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+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Estimate “Unknown” Parameters</a:t>
            </a:r>
            <a:endParaRPr sz="1800"/>
          </a:p>
        </p:txBody>
      </p:sp>
      <p:sp>
        <p:nvSpPr>
          <p:cNvPr id="410" name="Google Shape;410;p62"/>
          <p:cNvSpPr/>
          <p:nvPr/>
        </p:nvSpPr>
        <p:spPr>
          <a:xfrm>
            <a:off x="2703250" y="2644800"/>
            <a:ext cx="799200" cy="438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62"/>
          <p:cNvSpPr/>
          <p:nvPr/>
        </p:nvSpPr>
        <p:spPr>
          <a:xfrm>
            <a:off x="5665688" y="2637475"/>
            <a:ext cx="799200" cy="438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63"/>
          <p:cNvPicPr preferRelativeResize="0"/>
          <p:nvPr/>
        </p:nvPicPr>
        <p:blipFill rotWithShape="1">
          <a:blip r:embed="rId3">
            <a:alphaModFix amt="20000"/>
          </a:blip>
          <a:srcRect b="24975" l="17156" r="28913" t="7307"/>
          <a:stretch/>
        </p:blipFill>
        <p:spPr>
          <a:xfrm>
            <a:off x="5055825" y="1385850"/>
            <a:ext cx="4088176" cy="37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Simulator (SimMCM2D)</a:t>
            </a:r>
            <a:endParaRPr/>
          </a:p>
        </p:txBody>
      </p:sp>
      <p:sp>
        <p:nvSpPr>
          <p:cNvPr id="418" name="Google Shape;418;p63"/>
          <p:cNvSpPr txBox="1"/>
          <p:nvPr>
            <p:ph idx="1" type="body"/>
          </p:nvPr>
        </p:nvSpPr>
        <p:spPr>
          <a:xfrm>
            <a:off x="311700" y="1137863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</p:txBody>
      </p:sp>
      <p:pic>
        <p:nvPicPr>
          <p:cNvPr id="419" name="Google Shape;419;p63"/>
          <p:cNvPicPr preferRelativeResize="0"/>
          <p:nvPr/>
        </p:nvPicPr>
        <p:blipFill rotWithShape="1">
          <a:blip r:embed="rId4">
            <a:alphaModFix/>
          </a:blip>
          <a:srcRect b="7536" l="0" r="0" t="0"/>
          <a:stretch/>
        </p:blipFill>
        <p:spPr>
          <a:xfrm>
            <a:off x="311700" y="1137875"/>
            <a:ext cx="8520600" cy="3757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64"/>
          <p:cNvPicPr preferRelativeResize="0"/>
          <p:nvPr/>
        </p:nvPicPr>
        <p:blipFill rotWithShape="1">
          <a:blip r:embed="rId3">
            <a:alphaModFix amt="20000"/>
          </a:blip>
          <a:srcRect b="24975" l="17156" r="28913" t="7307"/>
          <a:stretch/>
        </p:blipFill>
        <p:spPr>
          <a:xfrm>
            <a:off x="5055825" y="1385850"/>
            <a:ext cx="4088176" cy="37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6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III. B. User Interface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65"/>
          <p:cNvPicPr preferRelativeResize="0"/>
          <p:nvPr/>
        </p:nvPicPr>
        <p:blipFill rotWithShape="1">
          <a:blip r:embed="rId3">
            <a:alphaModFix amt="20000"/>
          </a:blip>
          <a:srcRect b="24975" l="17156" r="28913" t="7307"/>
          <a:stretch/>
        </p:blipFill>
        <p:spPr>
          <a:xfrm>
            <a:off x="5055825" y="1385850"/>
            <a:ext cx="4088176" cy="37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720"/>
              <a:t>Application overview</a:t>
            </a:r>
            <a:endParaRPr sz="2720"/>
          </a:p>
        </p:txBody>
      </p:sp>
      <p:sp>
        <p:nvSpPr>
          <p:cNvPr id="432" name="Google Shape;432;p65"/>
          <p:cNvSpPr txBox="1"/>
          <p:nvPr>
            <p:ph idx="1" type="body"/>
          </p:nvPr>
        </p:nvSpPr>
        <p:spPr>
          <a:xfrm>
            <a:off x="591000" y="1299750"/>
            <a:ext cx="8241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Interface built with Streamlit (Python)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Allows configuration of simulation parameters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Generates datasets and KPIs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pt-BR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Provides descriptive analysis and parameter estimation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433" name="Google Shape;433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64550" y="-68250"/>
            <a:ext cx="1599250" cy="159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65" title="streamlit-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48026" y="284550"/>
            <a:ext cx="3216527" cy="89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p66"/>
          <p:cNvPicPr preferRelativeResize="0"/>
          <p:nvPr/>
        </p:nvPicPr>
        <p:blipFill rotWithShape="1">
          <a:blip r:embed="rId3">
            <a:alphaModFix amt="20000"/>
          </a:blip>
          <a:srcRect b="24975" l="17156" r="28913" t="7307"/>
          <a:stretch/>
        </p:blipFill>
        <p:spPr>
          <a:xfrm>
            <a:off x="5055825" y="1385850"/>
            <a:ext cx="4088176" cy="37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720"/>
              <a:t>Access to the Application</a:t>
            </a:r>
            <a:endParaRPr sz="2720"/>
          </a:p>
        </p:txBody>
      </p:sp>
      <p:sp>
        <p:nvSpPr>
          <p:cNvPr id="441" name="Google Shape;441;p66"/>
          <p:cNvSpPr txBox="1"/>
          <p:nvPr>
            <p:ph idx="1" type="body"/>
          </p:nvPr>
        </p:nvSpPr>
        <p:spPr>
          <a:xfrm>
            <a:off x="591000" y="1458375"/>
            <a:ext cx="8241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pt-BR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application is accessible online: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pt-BR" sz="2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https://projetm2d2526-m2d.streamlit.app/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pt-BR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will now move to a live demonstration of the application.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2" name="Google Shape;442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4550" y="198075"/>
            <a:ext cx="1599250" cy="159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66" title="streamlit-log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50151" y="321700"/>
            <a:ext cx="3216527" cy="89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